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156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test@test.co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128016"/>
            <a:ext cx="12191695" cy="45720"/>
          </a:xfrm>
          <a:prstGeom prst="rect">
            <a:avLst/>
          </a:prstGeom>
          <a:solidFill>
            <a:srgbClr val="56C6E6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4" name="Image 0" descr="Lumen Play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17320"/>
            <a:ext cx="4206240" cy="15041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3200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UX Scenario Document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024128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walkthrough for LG Content Store QA review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452360" y="1417320"/>
            <a:ext cx="3657600" cy="2788920"/>
          </a:xfrm>
          <a:prstGeom prst="roundRect">
            <a:avLst>
              <a:gd name="adj" fmla="val 3279"/>
            </a:avLst>
          </a:prstGeom>
          <a:solidFill>
            <a:srgbClr val="1A2032"/>
          </a:solidFill>
          <a:ln w="12700">
            <a:solidFill>
              <a:srgbClr val="252E44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8" name="Text 5"/>
          <p:cNvSpPr/>
          <p:nvPr/>
        </p:nvSpPr>
        <p:spPr>
          <a:xfrm>
            <a:off x="7726680" y="16459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TITLE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26680" y="1837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Player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26680" y="21579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26680" y="2350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com.andrew1h1.lumenplayer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726680" y="2670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VER.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26680" y="2862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1.0.0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726680" y="31821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DEVELOPER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26680" y="33741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Hany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726680" y="369417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DATE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72668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2026-07-08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00584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LG UX Scenario Document File Version 4.4    ·    Platform: webOS (web app type)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of Contents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4" name="Shape 2"/>
          <p:cNvSpPr/>
          <p:nvPr/>
        </p:nvSpPr>
        <p:spPr>
          <a:xfrm>
            <a:off x="841248" y="179222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" name="Text 3"/>
          <p:cNvSpPr/>
          <p:nvPr/>
        </p:nvSpPr>
        <p:spPr>
          <a:xfrm>
            <a:off x="841248" y="1792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7373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 Information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554480" y="208483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identity, category, platform and content policy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24912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9" name="Shape 7"/>
          <p:cNvSpPr/>
          <p:nvPr/>
        </p:nvSpPr>
        <p:spPr>
          <a:xfrm>
            <a:off x="841248" y="296265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841248" y="2962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9077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 Chart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554480" y="325526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navigation from launch to playback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895344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4" name="Shape 12"/>
          <p:cNvSpPr/>
          <p:nvPr/>
        </p:nvSpPr>
        <p:spPr>
          <a:xfrm>
            <a:off x="841248" y="413308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841248" y="4133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07822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Description — Guideline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554480" y="442569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numbered call-outs map to descriptions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5065776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9" name="Shape 17"/>
          <p:cNvSpPr/>
          <p:nvPr/>
        </p:nvSpPr>
        <p:spPr>
          <a:xfrm>
            <a:off x="841248" y="530352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0" name="Text 18"/>
          <p:cNvSpPr/>
          <p:nvPr/>
        </p:nvSpPr>
        <p:spPr>
          <a:xfrm>
            <a:off x="841248" y="5303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24865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Detailed Login Information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554480" y="55961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Sign-in, register, test accounts and profile selection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55080" y="1554480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4" name="Shape 22"/>
          <p:cNvSpPr/>
          <p:nvPr/>
        </p:nvSpPr>
        <p:spPr>
          <a:xfrm>
            <a:off x="6556248" y="179222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6556248" y="1792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69480" y="17373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Page Description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269480" y="208483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(My List &amp; History) and top navigation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55080" y="2724912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9" name="Shape 27"/>
          <p:cNvSpPr/>
          <p:nvPr/>
        </p:nvSpPr>
        <p:spPr>
          <a:xfrm>
            <a:off x="6556248" y="296265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0" name="Text 28"/>
          <p:cNvSpPr/>
          <p:nvPr/>
        </p:nvSpPr>
        <p:spPr>
          <a:xfrm>
            <a:off x="6556248" y="2962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269480" y="29077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 Page Description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7269480" y="325526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shelves, A–Z grid, Accounts and the player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55080" y="3895344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4" name="Shape 32"/>
          <p:cNvSpPr/>
          <p:nvPr/>
        </p:nvSpPr>
        <p:spPr>
          <a:xfrm>
            <a:off x="6556248" y="413308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AEB7C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5" name="Text 33"/>
          <p:cNvSpPr/>
          <p:nvPr/>
        </p:nvSpPr>
        <p:spPr>
          <a:xfrm>
            <a:off x="6556248" y="4133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269480" y="407822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 Content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7269480" y="442569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purchase / payment methods  —  Not applicable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55080" y="5065776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9" name="Shape 37"/>
          <p:cNvSpPr/>
          <p:nvPr/>
        </p:nvSpPr>
        <p:spPr>
          <a:xfrm>
            <a:off x="6556248" y="530352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AEB7C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0" name="Text 38"/>
          <p:cNvSpPr/>
          <p:nvPr/>
        </p:nvSpPr>
        <p:spPr>
          <a:xfrm>
            <a:off x="6556248" y="5303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269480" y="524865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In-App Ad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7269480" y="55961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placements  —  Not applicable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Player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 Information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identity and content policy at a glance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074920" cy="4059936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Title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55448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Player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1975104"/>
            <a:ext cx="4617720" cy="0"/>
          </a:xfrm>
          <a:prstGeom prst="line">
            <a:avLst/>
          </a:prstGeom>
          <a:noFill/>
          <a:ln w="9525">
            <a:solidFill>
              <a:srgbClr val="E3E8F1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914400" y="197510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97510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com.andrew1h1.lumenplayer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395728"/>
            <a:ext cx="4617720" cy="0"/>
          </a:xfrm>
          <a:prstGeom prst="line">
            <a:avLst/>
          </a:prstGeom>
          <a:noFill/>
          <a:ln w="9525">
            <a:solidFill>
              <a:srgbClr val="E3E8F1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914400" y="23957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39572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1.0.0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2816352"/>
            <a:ext cx="4617720" cy="0"/>
          </a:xfrm>
          <a:prstGeom prst="line">
            <a:avLst/>
          </a:prstGeom>
          <a:noFill/>
          <a:ln w="9525">
            <a:solidFill>
              <a:srgbClr val="E3E8F1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914400" y="281635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/ Vendor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281635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Hany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3236976"/>
            <a:ext cx="4617720" cy="0"/>
          </a:xfrm>
          <a:prstGeom prst="line">
            <a:avLst/>
          </a:prstGeom>
          <a:noFill/>
          <a:ln w="9525">
            <a:solidFill>
              <a:srgbClr val="E3E8F1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914400" y="323697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323697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· Media Player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3657600"/>
            <a:ext cx="4617720" cy="0"/>
          </a:xfrm>
          <a:prstGeom prst="line">
            <a:avLst/>
          </a:prstGeom>
          <a:noFill/>
          <a:ln w="9525">
            <a:solidFill>
              <a:srgbClr val="E3E8F1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914400" y="365760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Type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365760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webOS web application (HTML/JS)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8680" y="4078224"/>
            <a:ext cx="4617720" cy="0"/>
          </a:xfrm>
          <a:prstGeom prst="line">
            <a:avLst/>
          </a:prstGeom>
          <a:noFill/>
          <a:ln w="9525">
            <a:solidFill>
              <a:srgbClr val="E3E8F1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914400" y="407822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34640" y="407822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internet, network.state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8680" y="4498848"/>
            <a:ext cx="4617720" cy="0"/>
          </a:xfrm>
          <a:prstGeom prst="line">
            <a:avLst/>
          </a:prstGeom>
          <a:noFill/>
          <a:ln w="9525">
            <a:solidFill>
              <a:srgbClr val="E3E8F1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8" name="Text 26"/>
          <p:cNvSpPr/>
          <p:nvPr/>
        </p:nvSpPr>
        <p:spPr>
          <a:xfrm>
            <a:off x="914400" y="449884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34640" y="449884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(UI)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68680" y="4919472"/>
            <a:ext cx="4617720" cy="0"/>
          </a:xfrm>
          <a:prstGeom prst="line">
            <a:avLst/>
          </a:prstGeom>
          <a:noFill/>
          <a:ln w="9525">
            <a:solidFill>
              <a:srgbClr val="E3E8F1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1" name="Text 29"/>
          <p:cNvSpPr/>
          <p:nvPr/>
        </p:nvSpPr>
        <p:spPr>
          <a:xfrm>
            <a:off x="914400" y="491947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DRM / Hardware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834640" y="491947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required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14173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4" name="Text 32"/>
          <p:cNvSpPr/>
          <p:nvPr/>
        </p:nvSpPr>
        <p:spPr>
          <a:xfrm>
            <a:off x="6537960" y="156362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app does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37960" y="1911096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Player is a media player for the playlist the user already owns. The user points it at their own playlist source; the app organises that media into Live, Movies and Series sections, remembers playback position, and keeps favourites and history in sync across the user's devices — with a 10-foot D-pad interface built for the remote. It ships with no content of its own: it hosts, bundles and supplies no channels, streams or media.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63640" y="3566160"/>
            <a:ext cx="5257800" cy="1911096"/>
          </a:xfrm>
          <a:prstGeom prst="roundRect">
            <a:avLst>
              <a:gd name="adj" fmla="val 3828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7" name="Text 35"/>
          <p:cNvSpPr/>
          <p:nvPr/>
        </p:nvSpPr>
        <p:spPr>
          <a:xfrm>
            <a:off x="6537960" y="371246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policy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556248" y="4142232"/>
            <a:ext cx="137160" cy="137160"/>
          </a:xfrm>
          <a:prstGeom prst="ellipse">
            <a:avLst/>
          </a:prstGeom>
          <a:solidFill>
            <a:srgbClr val="56C6E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9" name="Text 37"/>
          <p:cNvSpPr/>
          <p:nvPr/>
        </p:nvSpPr>
        <p:spPr>
          <a:xfrm>
            <a:off x="6812280" y="4096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required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006840" y="40965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free account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556248" y="4416552"/>
            <a:ext cx="137160" cy="137160"/>
          </a:xfrm>
          <a:prstGeom prst="ellipse">
            <a:avLst/>
          </a:prstGeom>
          <a:solidFill>
            <a:srgbClr val="2FA36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2" name="Text 40"/>
          <p:cNvSpPr/>
          <p:nvPr/>
        </p:nvSpPr>
        <p:spPr>
          <a:xfrm>
            <a:off x="6812280" y="4370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content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006840" y="43708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556248" y="4690872"/>
            <a:ext cx="137160" cy="137160"/>
          </a:xfrm>
          <a:prstGeom prst="ellipse">
            <a:avLst/>
          </a:prstGeom>
          <a:solidFill>
            <a:srgbClr val="2FA36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5" name="Text 43"/>
          <p:cNvSpPr/>
          <p:nvPr/>
        </p:nvSpPr>
        <p:spPr>
          <a:xfrm>
            <a:off x="6812280" y="4645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purchase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9006840" y="46451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556248" y="4965192"/>
            <a:ext cx="137160" cy="137160"/>
          </a:xfrm>
          <a:prstGeom prst="ellipse">
            <a:avLst/>
          </a:prstGeom>
          <a:solidFill>
            <a:srgbClr val="2FA36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8" name="Text 46"/>
          <p:cNvSpPr/>
          <p:nvPr/>
        </p:nvSpPr>
        <p:spPr>
          <a:xfrm>
            <a:off x="6812280" y="4919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advertising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9006840" y="4919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556248" y="5239512"/>
            <a:ext cx="137160" cy="137160"/>
          </a:xfrm>
          <a:prstGeom prst="ellipse">
            <a:avLst/>
          </a:prstGeom>
          <a:solidFill>
            <a:srgbClr val="2FA36B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1" name="Text 49"/>
          <p:cNvSpPr/>
          <p:nvPr/>
        </p:nvSpPr>
        <p:spPr>
          <a:xfrm>
            <a:off x="6812280" y="5193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content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9006840" y="51937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40080" y="5586984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content rating is low; user-supplied media is outside the application's control.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Player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 Chart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navigation from app launch to playback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1432" y="214884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Shape 5"/>
          <p:cNvSpPr/>
          <p:nvPr/>
        </p:nvSpPr>
        <p:spPr>
          <a:xfrm>
            <a:off x="1121512" y="1975104"/>
            <a:ext cx="347472" cy="347472"/>
          </a:xfrm>
          <a:prstGeom prst="ellipse">
            <a:avLst/>
          </a:prstGeom>
          <a:solidFill>
            <a:srgbClr val="56C6E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" name="Text 6"/>
          <p:cNvSpPr/>
          <p:nvPr/>
        </p:nvSpPr>
        <p:spPr>
          <a:xfrm>
            <a:off x="1121512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2872" y="2404872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72872" y="297180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starts,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restored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27352" y="21488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2401672" y="214884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3" name="Shape 11"/>
          <p:cNvSpPr/>
          <p:nvPr/>
        </p:nvSpPr>
        <p:spPr>
          <a:xfrm>
            <a:off x="3041752" y="1975104"/>
            <a:ext cx="347472" cy="347472"/>
          </a:xfrm>
          <a:prstGeom prst="ellipse">
            <a:avLst/>
          </a:prstGeom>
          <a:solidFill>
            <a:srgbClr val="56C6E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" name="Text 12"/>
          <p:cNvSpPr/>
          <p:nvPr/>
        </p:nvSpPr>
        <p:spPr>
          <a:xfrm>
            <a:off x="3041752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93112" y="2404872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 In /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493112" y="297180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for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cross-device sync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47592" y="21488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4321912" y="214884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9" name="Shape 17"/>
          <p:cNvSpPr/>
          <p:nvPr/>
        </p:nvSpPr>
        <p:spPr>
          <a:xfrm>
            <a:off x="4961992" y="1975104"/>
            <a:ext cx="347472" cy="347472"/>
          </a:xfrm>
          <a:prstGeom prst="ellipse">
            <a:avLst/>
          </a:prstGeom>
          <a:solidFill>
            <a:srgbClr val="56C6E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0" name="Text 18"/>
          <p:cNvSpPr/>
          <p:nvPr/>
        </p:nvSpPr>
        <p:spPr>
          <a:xfrm>
            <a:off x="4961992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13352" y="2404872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Who's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Watching?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413352" y="297180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or add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profile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67832" y="21488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6242152" y="214884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5" name="Shape 23"/>
          <p:cNvSpPr/>
          <p:nvPr/>
        </p:nvSpPr>
        <p:spPr>
          <a:xfrm>
            <a:off x="6882232" y="1975104"/>
            <a:ext cx="347472" cy="347472"/>
          </a:xfrm>
          <a:prstGeom prst="ellipse">
            <a:avLst/>
          </a:prstGeom>
          <a:solidFill>
            <a:srgbClr val="56C6E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6" name="Text 24"/>
          <p:cNvSpPr/>
          <p:nvPr/>
        </p:nvSpPr>
        <p:spPr>
          <a:xfrm>
            <a:off x="6882232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33592" y="2404872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333592" y="297180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· Live ·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6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· Series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88072" y="21488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8162392" y="214884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1" name="Shape 29"/>
          <p:cNvSpPr/>
          <p:nvPr/>
        </p:nvSpPr>
        <p:spPr>
          <a:xfrm>
            <a:off x="8802472" y="1975104"/>
            <a:ext cx="347472" cy="347472"/>
          </a:xfrm>
          <a:prstGeom prst="ellipse">
            <a:avLst/>
          </a:prstGeom>
          <a:solidFill>
            <a:srgbClr val="56C6E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2" name="Text 30"/>
          <p:cNvSpPr/>
          <p:nvPr/>
        </p:nvSpPr>
        <p:spPr>
          <a:xfrm>
            <a:off x="8802472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53832" y="2404872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253832" y="297180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Shelves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A–Z grid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808312" y="21488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10082632" y="214884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7" name="Shape 35"/>
          <p:cNvSpPr/>
          <p:nvPr/>
        </p:nvSpPr>
        <p:spPr>
          <a:xfrm>
            <a:off x="10722712" y="1975104"/>
            <a:ext cx="347472" cy="347472"/>
          </a:xfrm>
          <a:prstGeom prst="ellipse">
            <a:avLst/>
          </a:prstGeom>
          <a:solidFill>
            <a:srgbClr val="56C6E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8" name="Text 36"/>
          <p:cNvSpPr/>
          <p:nvPr/>
        </p:nvSpPr>
        <p:spPr>
          <a:xfrm>
            <a:off x="10722712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174072" y="2404872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Player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10174072" y="297180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Full-screen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playback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82032" y="4114800"/>
            <a:ext cx="272491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56C6E6"/>
            </a:solidFill>
            <a:prstDash val="dash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42" name="Text 40"/>
          <p:cNvSpPr/>
          <p:nvPr/>
        </p:nvSpPr>
        <p:spPr>
          <a:xfrm>
            <a:off x="5464912" y="4224528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/ Settings</a:t>
            </a:r>
            <a:endParaRPr lang="en-US" sz="1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Reachable from any Main Page tab (gear icon) — add or switch playlist, manage profiles.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727552" y="4343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modal overlay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5–6 are described generically because they display only the media the user has supplied; the application provides none of its own.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Player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Description — Guideline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the page walk-throughs that follow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0F1320"/>
          </a:solidFill>
          <a:ln w="19050">
            <a:solidFill>
              <a:srgbClr val="252E44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Lumen Player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2057400"/>
            <a:ext cx="274320" cy="274320"/>
          </a:xfrm>
          <a:prstGeom prst="ellipse">
            <a:avLst/>
          </a:prstGeom>
          <a:solidFill>
            <a:srgbClr val="252E44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9" name="Shape 7"/>
          <p:cNvSpPr/>
          <p:nvPr/>
        </p:nvSpPr>
        <p:spPr>
          <a:xfrm>
            <a:off x="1097280" y="2606040"/>
            <a:ext cx="3657600" cy="1005840"/>
          </a:xfrm>
          <a:prstGeom prst="roundRect">
            <a:avLst>
              <a:gd name="adj" fmla="val 5455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Shape 8"/>
          <p:cNvSpPr/>
          <p:nvPr/>
        </p:nvSpPr>
        <p:spPr>
          <a:xfrm>
            <a:off x="1097280" y="3794760"/>
            <a:ext cx="1051560" cy="1325880"/>
          </a:xfrm>
          <a:prstGeom prst="roundRect">
            <a:avLst>
              <a:gd name="adj" fmla="val 5217"/>
            </a:avLst>
          </a:prstGeom>
          <a:solidFill>
            <a:srgbClr val="252E44"/>
          </a:solidFill>
          <a:ln w="25400">
            <a:solidFill>
              <a:srgbClr val="56C6E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" name="Shape 9"/>
          <p:cNvSpPr/>
          <p:nvPr/>
        </p:nvSpPr>
        <p:spPr>
          <a:xfrm>
            <a:off x="2286000" y="3794760"/>
            <a:ext cx="1051560" cy="1325880"/>
          </a:xfrm>
          <a:prstGeom prst="roundRect">
            <a:avLst>
              <a:gd name="adj" fmla="val 5217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" name="Shape 10"/>
          <p:cNvSpPr/>
          <p:nvPr/>
        </p:nvSpPr>
        <p:spPr>
          <a:xfrm>
            <a:off x="3474720" y="3794760"/>
            <a:ext cx="1051560" cy="1325880"/>
          </a:xfrm>
          <a:prstGeom prst="roundRect">
            <a:avLst>
              <a:gd name="adj" fmla="val 5217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Shape 11"/>
          <p:cNvSpPr/>
          <p:nvPr/>
        </p:nvSpPr>
        <p:spPr>
          <a:xfrm>
            <a:off x="2611526" y="2163928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4" name="Text 12"/>
          <p:cNvSpPr/>
          <p:nvPr/>
        </p:nvSpPr>
        <p:spPr>
          <a:xfrm>
            <a:off x="2611526" y="2163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62272" y="2181758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4462272" y="218175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79776" y="2966314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8" name="Text 16"/>
          <p:cNvSpPr/>
          <p:nvPr/>
        </p:nvSpPr>
        <p:spPr>
          <a:xfrm>
            <a:off x="2779776" y="296631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02029" y="4250131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0" name="Text 18"/>
          <p:cNvSpPr/>
          <p:nvPr/>
        </p:nvSpPr>
        <p:spPr>
          <a:xfrm>
            <a:off x="1602029" y="425013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18288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page shows one real screen (or a wireframe of it). Numbered markers on the screen correspond to the numbered list beside it: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0" y="276148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3" name="Text 21"/>
          <p:cNvSpPr/>
          <p:nvPr/>
        </p:nvSpPr>
        <p:spPr>
          <a:xfrm>
            <a:off x="548640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268833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title / brand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the current screen.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0" y="3419856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6" name="Text 24"/>
          <p:cNvSpPr/>
          <p:nvPr/>
        </p:nvSpPr>
        <p:spPr>
          <a:xfrm>
            <a:off x="5486400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334670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&amp; settings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profile, open Accounts/Settings.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0" y="4078224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9" name="Text 27"/>
          <p:cNvSpPr/>
          <p:nvPr/>
        </p:nvSpPr>
        <p:spPr>
          <a:xfrm>
            <a:off x="5486400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0" y="400507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/ featured item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element the D-pad highlight is on.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0" y="4736592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2" name="Text 30"/>
          <p:cNvSpPr/>
          <p:nvPr/>
        </p:nvSpPr>
        <p:spPr>
          <a:xfrm>
            <a:off x="5486400" y="4736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0" y="466344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Selectable content tile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opens detail or starts playback.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0" y="54406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i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on screenshots:  </a:t>
            </a:r>
            <a:r>
              <a:rPr lang="en-US" sz="1150" i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areas show sample/placeholder media only — no broadcaster logos, channel names or programme guides — because all media is user-supplied.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Player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Detailed Login Information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page — Sign in to an existing account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8952" y="1764792"/>
            <a:ext cx="4151376" cy="4252381"/>
          </a:xfrm>
          <a:prstGeom prst="roundRect">
            <a:avLst>
              <a:gd name="adj" fmla="val 1982"/>
            </a:avLst>
          </a:prstGeom>
          <a:solidFill>
            <a:srgbClr val="0F1320"/>
          </a:solidFill>
          <a:ln w="12700">
            <a:solidFill>
              <a:srgbClr val="252E44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pic>
        <p:nvPicPr>
          <p:cNvPr id="7" name="Image 0" descr="Sign in 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4023360" cy="412436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78992" y="3686937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9" name="Text 6"/>
          <p:cNvSpPr/>
          <p:nvPr/>
        </p:nvSpPr>
        <p:spPr>
          <a:xfrm>
            <a:off x="1078992" y="368693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78992" y="4251975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1" name="Text 8"/>
          <p:cNvSpPr/>
          <p:nvPr/>
        </p:nvSpPr>
        <p:spPr>
          <a:xfrm>
            <a:off x="1078992" y="425197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855110" y="4251975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3" name="Text 10"/>
          <p:cNvSpPr/>
          <p:nvPr/>
        </p:nvSpPr>
        <p:spPr>
          <a:xfrm>
            <a:off x="3855110" y="425197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78992" y="4767521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5" name="Text 12"/>
          <p:cNvSpPr/>
          <p:nvPr/>
        </p:nvSpPr>
        <p:spPr>
          <a:xfrm>
            <a:off x="1078992" y="476752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78992" y="5217077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7" name="Text 14"/>
          <p:cNvSpPr/>
          <p:nvPr/>
        </p:nvSpPr>
        <p:spPr>
          <a:xfrm>
            <a:off x="1078992" y="521707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0" y="189280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9" name="Text 16"/>
          <p:cNvSpPr/>
          <p:nvPr/>
        </p:nvSpPr>
        <p:spPr>
          <a:xfrm>
            <a:off x="5486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43600" y="181965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field for the account email address.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0" y="253288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2" name="Text 19"/>
          <p:cNvSpPr/>
          <p:nvPr/>
        </p:nvSpPr>
        <p:spPr>
          <a:xfrm>
            <a:off x="5486400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43600" y="245973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field for the account password.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0" y="317296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Text 22"/>
          <p:cNvSpPr/>
          <p:nvPr/>
        </p:nvSpPr>
        <p:spPr>
          <a:xfrm>
            <a:off x="5486400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0" y="309981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/ hide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toggles password visibility.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486400" y="381304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8" name="Text 25"/>
          <p:cNvSpPr/>
          <p:nvPr/>
        </p:nvSpPr>
        <p:spPr>
          <a:xfrm>
            <a:off x="5486400" y="3813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943600" y="373989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authenticates and continues to profile selection.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486400" y="445312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1" name="Text 28"/>
          <p:cNvSpPr/>
          <p:nvPr/>
        </p:nvSpPr>
        <p:spPr>
          <a:xfrm>
            <a:off x="5486400" y="4453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943600" y="437997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to the create-account screen.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5486400" y="52578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i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account is a free Lumen Player account used only to sync favourites, history and profiles across the user's devices. It is not a content subscription.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Player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Detailed Login Information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page — Create a new account (Register)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8952" y="1719072"/>
            <a:ext cx="3571948" cy="4425696"/>
          </a:xfrm>
          <a:prstGeom prst="roundRect">
            <a:avLst>
              <a:gd name="adj" fmla="val 2304"/>
            </a:avLst>
          </a:prstGeom>
          <a:solidFill>
            <a:srgbClr val="0F1320"/>
          </a:solidFill>
          <a:ln w="12700">
            <a:solidFill>
              <a:srgbClr val="252E44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pic>
        <p:nvPicPr>
          <p:cNvPr id="7" name="Image 0" descr="Create account 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3443932" cy="4297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21049" y="3265597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9" name="Text 6"/>
          <p:cNvSpPr/>
          <p:nvPr/>
        </p:nvSpPr>
        <p:spPr>
          <a:xfrm>
            <a:off x="1021049" y="326559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21049" y="3755532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1" name="Text 8"/>
          <p:cNvSpPr/>
          <p:nvPr/>
        </p:nvSpPr>
        <p:spPr>
          <a:xfrm>
            <a:off x="1021049" y="37555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21049" y="4241170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3" name="Text 10"/>
          <p:cNvSpPr/>
          <p:nvPr/>
        </p:nvSpPr>
        <p:spPr>
          <a:xfrm>
            <a:off x="1021049" y="424117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21049" y="4726808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5" name="Text 12"/>
          <p:cNvSpPr/>
          <p:nvPr/>
        </p:nvSpPr>
        <p:spPr>
          <a:xfrm>
            <a:off x="1021049" y="4726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21049" y="5173767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7" name="Text 14"/>
          <p:cNvSpPr/>
          <p:nvPr/>
        </p:nvSpPr>
        <p:spPr>
          <a:xfrm>
            <a:off x="1021049" y="517376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21049" y="5556260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9" name="Text 16"/>
          <p:cNvSpPr/>
          <p:nvPr/>
        </p:nvSpPr>
        <p:spPr>
          <a:xfrm>
            <a:off x="1021049" y="55562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937760" y="184708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1" name="Text 18"/>
          <p:cNvSpPr/>
          <p:nvPr/>
        </p:nvSpPr>
        <p:spPr>
          <a:xfrm>
            <a:off x="4937760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94960" y="1773936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name for the account.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937760" y="2450592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4" name="Text 21"/>
          <p:cNvSpPr/>
          <p:nvPr/>
        </p:nvSpPr>
        <p:spPr>
          <a:xfrm>
            <a:off x="4937760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394960" y="2377440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email address.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937760" y="3054096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7" name="Text 24"/>
          <p:cNvSpPr/>
          <p:nvPr/>
        </p:nvSpPr>
        <p:spPr>
          <a:xfrm>
            <a:off x="493776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394960" y="2980944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password (each field has a show/hide toggle).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937760" y="3657600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0" name="Text 27"/>
          <p:cNvSpPr/>
          <p:nvPr/>
        </p:nvSpPr>
        <p:spPr>
          <a:xfrm>
            <a:off x="493776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394960" y="3584448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Password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re-enter to confirm.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937760" y="4261104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3" name="Text 30"/>
          <p:cNvSpPr/>
          <p:nvPr/>
        </p:nvSpPr>
        <p:spPr>
          <a:xfrm>
            <a:off x="493776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394960" y="4187952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Account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the account and continues.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937760" y="486460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6" name="Text 33"/>
          <p:cNvSpPr/>
          <p:nvPr/>
        </p:nvSpPr>
        <p:spPr>
          <a:xfrm>
            <a:off x="4937760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394960" y="4791456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to the sign-in screen.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Player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Accounts for QA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— credentials the review team can use to test the 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Account  (ID / PW)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1762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/ 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1720" y="2176272"/>
            <a:ext cx="3520440" cy="438912"/>
          </a:xfrm>
          <a:prstGeom prst="roundRect">
            <a:avLst>
              <a:gd name="adj" fmla="val 10417"/>
            </a:avLst>
          </a:prstGeom>
          <a:solidFill>
            <a:srgbClr val="FFF7E0"/>
          </a:solidFill>
          <a:ln w="12700">
            <a:solidFill>
              <a:srgbClr val="E7C15A"/>
            </a:solidFill>
            <a:prstDash val="dash"/>
          </a:ln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2423160" y="217627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hlinkClick r:id="rId3"/>
              </a:rPr>
              <a:t>test@test.com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7432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31720" y="2743200"/>
            <a:ext cx="3520440" cy="438912"/>
          </a:xfrm>
          <a:prstGeom prst="roundRect">
            <a:avLst>
              <a:gd name="adj" fmla="val 10417"/>
            </a:avLst>
          </a:prstGeom>
          <a:solidFill>
            <a:srgbClr val="FFF7E0"/>
          </a:solidFill>
          <a:ln w="12700">
            <a:solidFill>
              <a:srgbClr val="E7C15A"/>
            </a:solidFill>
            <a:prstDash val="dash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2423160" y="27432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test.123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3467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profile is pre-created; more can be added on the profile screen.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600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640080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Playlist  (to load media)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13969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</a:t>
            </a:r>
            <a:r>
              <a:rPr lang="en-US" sz="11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› Accounts</a:t>
            </a:r>
            <a:r>
              <a:rPr lang="en-US" sz="11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reviewer adds a playlist source. Use the sample source below to load sample media for testing: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2761488"/>
            <a:ext cx="4937760" cy="841248"/>
          </a:xfrm>
          <a:prstGeom prst="roundRect">
            <a:avLst>
              <a:gd name="adj" fmla="val 5435"/>
            </a:avLst>
          </a:prstGeom>
          <a:solidFill>
            <a:srgbClr val="FFF7E0"/>
          </a:solidFill>
          <a:ln w="12700">
            <a:solidFill>
              <a:srgbClr val="E7C15A"/>
            </a:solidFill>
            <a:prstDash val="dash"/>
          </a:ln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6537960" y="2761488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/>
              <a:t>Test Account</a:t>
            </a:r>
          </a:p>
        </p:txBody>
      </p:sp>
      <p:sp>
        <p:nvSpPr>
          <p:cNvPr id="22" name="Shape 20"/>
          <p:cNvSpPr/>
          <p:nvPr/>
        </p:nvSpPr>
        <p:spPr>
          <a:xfrm>
            <a:off x="640080" y="457200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56C6E6"/>
            </a:solidFill>
            <a:prstDash val="solid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3" name="Shape 21"/>
          <p:cNvSpPr/>
          <p:nvPr/>
        </p:nvSpPr>
        <p:spPr>
          <a:xfrm>
            <a:off x="640080" y="4736592"/>
            <a:ext cx="73152" cy="1133856"/>
          </a:xfrm>
          <a:prstGeom prst="rect">
            <a:avLst/>
          </a:prstGeom>
          <a:solidFill>
            <a:srgbClr val="56C6E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4" name="Text 22"/>
          <p:cNvSpPr/>
          <p:nvPr/>
        </p:nvSpPr>
        <p:spPr>
          <a:xfrm>
            <a:off x="914400" y="468172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Reviewer notes (LG QA)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992624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Either the test account (ID/PW) or an access/activation flow is required to test the app; the account above is provided.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 single account may be signed in on multiple devices at once — no per-device limit — so one test account is sufficient for QA.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Lumen Player ships with no media. To exercise playback, add the sample playlist under Settings › Accounts.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 application hosts and supplies no content; all media shown during testing originates from the sample playlist the reviewer loads.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Player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 Selection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“Who’s watching?” — choose or add a profile after sign-in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7512" y="1719072"/>
            <a:ext cx="4844067" cy="4562856"/>
          </a:xfrm>
          <a:prstGeom prst="roundRect">
            <a:avLst>
              <a:gd name="adj" fmla="val 1804"/>
            </a:avLst>
          </a:prstGeom>
          <a:solidFill>
            <a:srgbClr val="0F1320"/>
          </a:solidFill>
          <a:ln w="12700">
            <a:solidFill>
              <a:srgbClr val="252E44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pic>
        <p:nvPicPr>
          <p:cNvPr id="7" name="Image 0" descr="Profile selection 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83080"/>
            <a:ext cx="4716051" cy="4434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49406" y="2359381"/>
            <a:ext cx="310896" cy="310896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9" name="Text 6"/>
          <p:cNvSpPr/>
          <p:nvPr/>
        </p:nvSpPr>
        <p:spPr>
          <a:xfrm>
            <a:off x="1849406" y="235938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500024" y="2359381"/>
            <a:ext cx="310896" cy="310896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1" name="Text 8"/>
          <p:cNvSpPr/>
          <p:nvPr/>
        </p:nvSpPr>
        <p:spPr>
          <a:xfrm>
            <a:off x="3500024" y="235938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38912" y="5397246"/>
            <a:ext cx="310896" cy="310896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3" name="Text 10"/>
          <p:cNvSpPr/>
          <p:nvPr/>
        </p:nvSpPr>
        <p:spPr>
          <a:xfrm>
            <a:off x="2438912" y="53972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17925" y="5397246"/>
            <a:ext cx="310896" cy="310896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5" name="Text 12"/>
          <p:cNvSpPr/>
          <p:nvPr/>
        </p:nvSpPr>
        <p:spPr>
          <a:xfrm>
            <a:off x="3617925" y="53972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04771" y="221284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7" name="Text 14"/>
          <p:cNvSpPr/>
          <p:nvPr/>
        </p:nvSpPr>
        <p:spPr>
          <a:xfrm>
            <a:off x="5904771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61971" y="2139696"/>
            <a:ext cx="52810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tile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 profile to enter the app.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04771" y="2871216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0" name="Text 17"/>
          <p:cNvSpPr/>
          <p:nvPr/>
        </p:nvSpPr>
        <p:spPr>
          <a:xfrm>
            <a:off x="5904771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61971" y="2798064"/>
            <a:ext cx="52810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Profile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viewing profile.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04771" y="3529584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3" name="Text 20"/>
          <p:cNvSpPr/>
          <p:nvPr/>
        </p:nvSpPr>
        <p:spPr>
          <a:xfrm>
            <a:off x="5904771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361971" y="3456432"/>
            <a:ext cx="52810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Profiles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 / remove profiles.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904771" y="4187952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6" name="Text 23"/>
          <p:cNvSpPr/>
          <p:nvPr/>
        </p:nvSpPr>
        <p:spPr>
          <a:xfrm>
            <a:off x="5904771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361971" y="4114800"/>
            <a:ext cx="52810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Out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to the sign-in screen.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904771" y="5029200"/>
            <a:ext cx="57382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i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 keep each viewer's favourites, history and resume points separate. They are local personalisation only — not separate accounts or logins.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Player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Page Description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— My List &amp; History (favourites and resume)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492240" cy="4023360"/>
          </a:xfrm>
          <a:prstGeom prst="roundRect">
            <a:avLst>
              <a:gd name="adj" fmla="val 2273"/>
            </a:avLst>
          </a:prstGeom>
          <a:solidFill>
            <a:srgbClr val="0F1320"/>
          </a:solidFill>
          <a:ln w="19050">
            <a:solidFill>
              <a:srgbClr val="252E44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960120" y="20665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Lumen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14600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88336" y="2404872"/>
            <a:ext cx="365760" cy="41148"/>
          </a:xfrm>
          <a:prstGeom prst="roundRect">
            <a:avLst>
              <a:gd name="adj" fmla="val 44444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3264408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14216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64024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61888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(•)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45936" y="208483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48272" y="21031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2E44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960120" y="26517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 List &amp; History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31089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Favourites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0120" y="3401568"/>
            <a:ext cx="1051560" cy="1051560"/>
          </a:xfrm>
          <a:prstGeom prst="roundRect">
            <a:avLst>
              <a:gd name="adj" fmla="val 5217"/>
            </a:avLst>
          </a:prstGeom>
          <a:solidFill>
            <a:srgbClr val="252E44"/>
          </a:solidFill>
          <a:ln w="25400">
            <a:solidFill>
              <a:srgbClr val="56C6E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Shape 17"/>
          <p:cNvSpPr/>
          <p:nvPr/>
        </p:nvSpPr>
        <p:spPr>
          <a:xfrm>
            <a:off x="2167128" y="3401568"/>
            <a:ext cx="1051560" cy="1051560"/>
          </a:xfrm>
          <a:prstGeom prst="roundRect">
            <a:avLst>
              <a:gd name="adj" fmla="val 5217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0" name="Shape 18"/>
          <p:cNvSpPr/>
          <p:nvPr/>
        </p:nvSpPr>
        <p:spPr>
          <a:xfrm>
            <a:off x="3374136" y="3401568"/>
            <a:ext cx="1051560" cy="1051560"/>
          </a:xfrm>
          <a:prstGeom prst="roundRect">
            <a:avLst>
              <a:gd name="adj" fmla="val 5217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1" name="Shape 19"/>
          <p:cNvSpPr/>
          <p:nvPr/>
        </p:nvSpPr>
        <p:spPr>
          <a:xfrm>
            <a:off x="4581144" y="3401568"/>
            <a:ext cx="1051560" cy="1051560"/>
          </a:xfrm>
          <a:prstGeom prst="roundRect">
            <a:avLst>
              <a:gd name="adj" fmla="val 5217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960120" y="46177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History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0120" y="4892040"/>
            <a:ext cx="1051560" cy="749808"/>
          </a:xfrm>
          <a:prstGeom prst="roundRect">
            <a:avLst>
              <a:gd name="adj" fmla="val 7317"/>
            </a:avLst>
          </a:prstGeom>
          <a:solidFill>
            <a:srgbClr val="252E44"/>
          </a:solidFill>
          <a:ln w="25400">
            <a:solidFill>
              <a:srgbClr val="56C6E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4" name="Shape 22"/>
          <p:cNvSpPr/>
          <p:nvPr/>
        </p:nvSpPr>
        <p:spPr>
          <a:xfrm>
            <a:off x="1051560" y="5532120"/>
            <a:ext cx="868680" cy="54864"/>
          </a:xfrm>
          <a:prstGeom prst="roundRect">
            <a:avLst>
              <a:gd name="adj" fmla="val 50000"/>
            </a:avLst>
          </a:prstGeom>
          <a:solidFill>
            <a:srgbClr val="3A455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5" name="Shape 23"/>
          <p:cNvSpPr/>
          <p:nvPr/>
        </p:nvSpPr>
        <p:spPr>
          <a:xfrm>
            <a:off x="1051560" y="553212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6" name="Shape 24"/>
          <p:cNvSpPr/>
          <p:nvPr/>
        </p:nvSpPr>
        <p:spPr>
          <a:xfrm>
            <a:off x="2167128" y="4892040"/>
            <a:ext cx="1051560" cy="749808"/>
          </a:xfrm>
          <a:prstGeom prst="roundRect">
            <a:avLst>
              <a:gd name="adj" fmla="val 7317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7" name="Shape 25"/>
          <p:cNvSpPr/>
          <p:nvPr/>
        </p:nvSpPr>
        <p:spPr>
          <a:xfrm>
            <a:off x="2258568" y="5532120"/>
            <a:ext cx="868680" cy="54864"/>
          </a:xfrm>
          <a:prstGeom prst="roundRect">
            <a:avLst>
              <a:gd name="adj" fmla="val 50000"/>
            </a:avLst>
          </a:prstGeom>
          <a:solidFill>
            <a:srgbClr val="3A455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8" name="Shape 26"/>
          <p:cNvSpPr/>
          <p:nvPr/>
        </p:nvSpPr>
        <p:spPr>
          <a:xfrm>
            <a:off x="2258568" y="5532120"/>
            <a:ext cx="292608" cy="54864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9" name="Shape 27"/>
          <p:cNvSpPr/>
          <p:nvPr/>
        </p:nvSpPr>
        <p:spPr>
          <a:xfrm>
            <a:off x="3374136" y="4892040"/>
            <a:ext cx="1051560" cy="749808"/>
          </a:xfrm>
          <a:prstGeom prst="roundRect">
            <a:avLst>
              <a:gd name="adj" fmla="val 7317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0" name="Shape 28"/>
          <p:cNvSpPr/>
          <p:nvPr/>
        </p:nvSpPr>
        <p:spPr>
          <a:xfrm>
            <a:off x="3465576" y="5532120"/>
            <a:ext cx="868680" cy="54864"/>
          </a:xfrm>
          <a:prstGeom prst="roundRect">
            <a:avLst>
              <a:gd name="adj" fmla="val 50000"/>
            </a:avLst>
          </a:prstGeom>
          <a:solidFill>
            <a:srgbClr val="3A455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1" name="Shape 29"/>
          <p:cNvSpPr/>
          <p:nvPr/>
        </p:nvSpPr>
        <p:spPr>
          <a:xfrm>
            <a:off x="3465576" y="5532120"/>
            <a:ext cx="292608" cy="54864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2" name="Shape 30"/>
          <p:cNvSpPr/>
          <p:nvPr/>
        </p:nvSpPr>
        <p:spPr>
          <a:xfrm>
            <a:off x="4581144" y="4892040"/>
            <a:ext cx="1051560" cy="749808"/>
          </a:xfrm>
          <a:prstGeom prst="roundRect">
            <a:avLst>
              <a:gd name="adj" fmla="val 7317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3" name="Shape 31"/>
          <p:cNvSpPr/>
          <p:nvPr/>
        </p:nvSpPr>
        <p:spPr>
          <a:xfrm>
            <a:off x="4672584" y="5532120"/>
            <a:ext cx="868680" cy="54864"/>
          </a:xfrm>
          <a:prstGeom prst="roundRect">
            <a:avLst>
              <a:gd name="adj" fmla="val 50000"/>
            </a:avLst>
          </a:prstGeom>
          <a:solidFill>
            <a:srgbClr val="3A455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4" name="Shape 32"/>
          <p:cNvSpPr/>
          <p:nvPr/>
        </p:nvSpPr>
        <p:spPr>
          <a:xfrm>
            <a:off x="4672584" y="5532120"/>
            <a:ext cx="292608" cy="54864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5" name="Shape 33"/>
          <p:cNvSpPr/>
          <p:nvPr/>
        </p:nvSpPr>
        <p:spPr>
          <a:xfrm>
            <a:off x="2246681" y="2165299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6" name="Text 34"/>
          <p:cNvSpPr/>
          <p:nvPr/>
        </p:nvSpPr>
        <p:spPr>
          <a:xfrm>
            <a:off x="2246681" y="216529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748272" y="2265883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8" name="Text 36"/>
          <p:cNvSpPr/>
          <p:nvPr/>
        </p:nvSpPr>
        <p:spPr>
          <a:xfrm>
            <a:off x="6748272" y="226588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337767" y="3774643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40" name="Text 38"/>
          <p:cNvSpPr/>
          <p:nvPr/>
        </p:nvSpPr>
        <p:spPr>
          <a:xfrm>
            <a:off x="1337767" y="377464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337767" y="5142586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42" name="Text 40"/>
          <p:cNvSpPr/>
          <p:nvPr/>
        </p:nvSpPr>
        <p:spPr>
          <a:xfrm>
            <a:off x="1337767" y="514258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406640" y="193852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4" name="Text 42"/>
          <p:cNvSpPr/>
          <p:nvPr/>
        </p:nvSpPr>
        <p:spPr>
          <a:xfrm>
            <a:off x="7406640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863840" y="1865376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navigation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Home, Live, Movies, Series — D-pad left/right.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406640" y="2596896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7" name="Text 45"/>
          <p:cNvSpPr/>
          <p:nvPr/>
        </p:nvSpPr>
        <p:spPr>
          <a:xfrm>
            <a:off x="7406640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863840" y="2523744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/ menu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Accounts (playlist, profiles, settings).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406640" y="3255264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0" name="Text 48"/>
          <p:cNvSpPr/>
          <p:nvPr/>
        </p:nvSpPr>
        <p:spPr>
          <a:xfrm>
            <a:off x="740664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863840" y="3182112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Favourites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the viewer saved; OK opens / plays.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7406640" y="3913632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3" name="Text 51"/>
          <p:cNvSpPr/>
          <p:nvPr/>
        </p:nvSpPr>
        <p:spPr>
          <a:xfrm>
            <a:off x="740664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863840" y="3840480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History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recently played, with a resume progress bar.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7406640" y="5029200"/>
            <a:ext cx="4236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i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— tiles are placeholders; the live app shows only the artwork of media in the user's own playlist.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Player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 Page Description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— Movies &amp; Series shelves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492240" cy="4023360"/>
          </a:xfrm>
          <a:prstGeom prst="roundRect">
            <a:avLst>
              <a:gd name="adj" fmla="val 2273"/>
            </a:avLst>
          </a:prstGeom>
          <a:solidFill>
            <a:srgbClr val="0F1320"/>
          </a:solidFill>
          <a:ln w="19050">
            <a:solidFill>
              <a:srgbClr val="252E44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960120" y="20665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Lumen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14600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64408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14216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87952" y="2404872"/>
            <a:ext cx="365760" cy="41148"/>
          </a:xfrm>
          <a:prstGeom prst="roundRect">
            <a:avLst>
              <a:gd name="adj" fmla="val 44444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4764024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61888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(•)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45936" y="208483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48272" y="21031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2E44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960120" y="26517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60120" y="31089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52E44"/>
          </a:solidFill>
          <a:ln w="12700">
            <a:solidFill>
              <a:srgbClr val="56C6E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8" name="Text 16"/>
          <p:cNvSpPr/>
          <p:nvPr/>
        </p:nvSpPr>
        <p:spPr>
          <a:xfrm>
            <a:off x="960120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  All Movies  ›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0120" y="36576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· 527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0120" y="3950208"/>
            <a:ext cx="1051560" cy="914400"/>
          </a:xfrm>
          <a:prstGeom prst="roundRect">
            <a:avLst>
              <a:gd name="adj" fmla="val 6000"/>
            </a:avLst>
          </a:prstGeom>
          <a:solidFill>
            <a:srgbClr val="252E44"/>
          </a:solidFill>
          <a:ln w="25400">
            <a:solidFill>
              <a:srgbClr val="56C6E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1" name="Shape 19"/>
          <p:cNvSpPr/>
          <p:nvPr/>
        </p:nvSpPr>
        <p:spPr>
          <a:xfrm>
            <a:off x="2167128" y="3950208"/>
            <a:ext cx="1051560" cy="914400"/>
          </a:xfrm>
          <a:prstGeom prst="roundRect">
            <a:avLst>
              <a:gd name="adj" fmla="val 6000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Shape 20"/>
          <p:cNvSpPr/>
          <p:nvPr/>
        </p:nvSpPr>
        <p:spPr>
          <a:xfrm>
            <a:off x="3374136" y="3950208"/>
            <a:ext cx="1051560" cy="914400"/>
          </a:xfrm>
          <a:prstGeom prst="roundRect">
            <a:avLst>
              <a:gd name="adj" fmla="val 6000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3" name="Shape 21"/>
          <p:cNvSpPr/>
          <p:nvPr/>
        </p:nvSpPr>
        <p:spPr>
          <a:xfrm>
            <a:off x="4581144" y="3950208"/>
            <a:ext cx="1051560" cy="914400"/>
          </a:xfrm>
          <a:prstGeom prst="roundRect">
            <a:avLst>
              <a:gd name="adj" fmla="val 6000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4" name="Shape 22"/>
          <p:cNvSpPr/>
          <p:nvPr/>
        </p:nvSpPr>
        <p:spPr>
          <a:xfrm>
            <a:off x="5788152" y="3950208"/>
            <a:ext cx="1051560" cy="914400"/>
          </a:xfrm>
          <a:prstGeom prst="roundRect">
            <a:avLst>
              <a:gd name="adj" fmla="val 6000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960120" y="49834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· Series · 80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0120" y="525780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7" name="Shape 25"/>
          <p:cNvSpPr/>
          <p:nvPr/>
        </p:nvSpPr>
        <p:spPr>
          <a:xfrm>
            <a:off x="2167128" y="525780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8" name="Shape 26"/>
          <p:cNvSpPr/>
          <p:nvPr/>
        </p:nvSpPr>
        <p:spPr>
          <a:xfrm>
            <a:off x="3374136" y="525780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9" name="Shape 27"/>
          <p:cNvSpPr/>
          <p:nvPr/>
        </p:nvSpPr>
        <p:spPr>
          <a:xfrm>
            <a:off x="4581144" y="525780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0" name="Shape 28"/>
          <p:cNvSpPr/>
          <p:nvPr/>
        </p:nvSpPr>
        <p:spPr>
          <a:xfrm>
            <a:off x="5788152" y="525780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1" name="Shape 29"/>
          <p:cNvSpPr/>
          <p:nvPr/>
        </p:nvSpPr>
        <p:spPr>
          <a:xfrm>
            <a:off x="2246681" y="2165299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2" name="Text 30"/>
          <p:cNvSpPr/>
          <p:nvPr/>
        </p:nvSpPr>
        <p:spPr>
          <a:xfrm>
            <a:off x="2246681" y="216529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603754" y="3151022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4" name="Text 32"/>
          <p:cNvSpPr/>
          <p:nvPr/>
        </p:nvSpPr>
        <p:spPr>
          <a:xfrm>
            <a:off x="2603754" y="31510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337767" y="4257446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6" name="Text 34"/>
          <p:cNvSpPr/>
          <p:nvPr/>
        </p:nvSpPr>
        <p:spPr>
          <a:xfrm>
            <a:off x="1337767" y="42574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337767" y="5363870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8" name="Text 36"/>
          <p:cNvSpPr/>
          <p:nvPr/>
        </p:nvSpPr>
        <p:spPr>
          <a:xfrm>
            <a:off x="1337767" y="536387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406640" y="193852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0" name="Text 38"/>
          <p:cNvSpPr/>
          <p:nvPr/>
        </p:nvSpPr>
        <p:spPr>
          <a:xfrm>
            <a:off x="7406640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863840" y="1865376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tab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(Series is identical).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406640" y="2596896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3" name="Text 41"/>
          <p:cNvSpPr/>
          <p:nvPr/>
        </p:nvSpPr>
        <p:spPr>
          <a:xfrm>
            <a:off x="7406640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63840" y="2523744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Movies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the full A–Z grid (next page).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406640" y="3255264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6" name="Text 44"/>
          <p:cNvSpPr/>
          <p:nvPr/>
        </p:nvSpPr>
        <p:spPr>
          <a:xfrm>
            <a:off x="740664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863840" y="3182112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 (focused)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opens the detail view, then playback.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7406640" y="3913632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9" name="Text 47"/>
          <p:cNvSpPr/>
          <p:nvPr/>
        </p:nvSpPr>
        <p:spPr>
          <a:xfrm>
            <a:off x="740664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863840" y="3840480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shelves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grouped by the playlist's own categories.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7406640" y="4892040"/>
            <a:ext cx="4236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</a:t>
            </a:r>
            <a:r>
              <a:rPr lang="en-US" sz="11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the same browsable layout as a grid of content categories (General, Music, Sports, News …).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Player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 Page Description — All Movies / Series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A–Z catalogue with search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492240" cy="4023360"/>
          </a:xfrm>
          <a:prstGeom prst="roundRect">
            <a:avLst>
              <a:gd name="adj" fmla="val 2273"/>
            </a:avLst>
          </a:prstGeom>
          <a:solidFill>
            <a:srgbClr val="0F1320"/>
          </a:solidFill>
          <a:ln w="19050">
            <a:solidFill>
              <a:srgbClr val="252E44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960120" y="20665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Lumen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14600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64408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14216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87952" y="2404872"/>
            <a:ext cx="365760" cy="41148"/>
          </a:xfrm>
          <a:prstGeom prst="roundRect">
            <a:avLst>
              <a:gd name="adj" fmla="val 44444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4764024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61888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(•)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45936" y="208483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48272" y="21031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2E44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960120" y="26243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‹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16736" y="26517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Movies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265176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0120" y="3063240"/>
            <a:ext cx="5852160" cy="384048"/>
          </a:xfrm>
          <a:prstGeom prst="roundRect">
            <a:avLst>
              <a:gd name="adj" fmla="val 19048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0" name="Text 18"/>
          <p:cNvSpPr/>
          <p:nvPr/>
        </p:nvSpPr>
        <p:spPr>
          <a:xfrm>
            <a:off x="1143000" y="30632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⌕  Search movies…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60120" y="35844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  </a:t>
            </a: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 B   C   D   E   F   G   H   I   J   K   L   M   N   O   P   Q   R   S   T   U   V   W   X   Y   Z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0120" y="3977640"/>
            <a:ext cx="1051560" cy="804672"/>
          </a:xfrm>
          <a:prstGeom prst="roundRect">
            <a:avLst>
              <a:gd name="adj" fmla="val 6818"/>
            </a:avLst>
          </a:prstGeom>
          <a:solidFill>
            <a:srgbClr val="252E44"/>
          </a:solidFill>
          <a:ln w="25400">
            <a:solidFill>
              <a:srgbClr val="56C6E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3" name="Shape 21"/>
          <p:cNvSpPr/>
          <p:nvPr/>
        </p:nvSpPr>
        <p:spPr>
          <a:xfrm>
            <a:off x="2167128" y="3977640"/>
            <a:ext cx="1051560" cy="804672"/>
          </a:xfrm>
          <a:prstGeom prst="roundRect">
            <a:avLst>
              <a:gd name="adj" fmla="val 6818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4" name="Shape 22"/>
          <p:cNvSpPr/>
          <p:nvPr/>
        </p:nvSpPr>
        <p:spPr>
          <a:xfrm>
            <a:off x="3374136" y="3977640"/>
            <a:ext cx="1051560" cy="804672"/>
          </a:xfrm>
          <a:prstGeom prst="roundRect">
            <a:avLst>
              <a:gd name="adj" fmla="val 6818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Shape 23"/>
          <p:cNvSpPr/>
          <p:nvPr/>
        </p:nvSpPr>
        <p:spPr>
          <a:xfrm>
            <a:off x="4581144" y="3977640"/>
            <a:ext cx="1051560" cy="804672"/>
          </a:xfrm>
          <a:prstGeom prst="roundRect">
            <a:avLst>
              <a:gd name="adj" fmla="val 6818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6" name="Shape 24"/>
          <p:cNvSpPr/>
          <p:nvPr/>
        </p:nvSpPr>
        <p:spPr>
          <a:xfrm>
            <a:off x="5788152" y="3977640"/>
            <a:ext cx="1051560" cy="804672"/>
          </a:xfrm>
          <a:prstGeom prst="roundRect">
            <a:avLst>
              <a:gd name="adj" fmla="val 6818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7" name="Shape 25"/>
          <p:cNvSpPr/>
          <p:nvPr/>
        </p:nvSpPr>
        <p:spPr>
          <a:xfrm>
            <a:off x="960120" y="4910328"/>
            <a:ext cx="1051560" cy="804672"/>
          </a:xfrm>
          <a:prstGeom prst="roundRect">
            <a:avLst>
              <a:gd name="adj" fmla="val 6818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8" name="Shape 26"/>
          <p:cNvSpPr/>
          <p:nvPr/>
        </p:nvSpPr>
        <p:spPr>
          <a:xfrm>
            <a:off x="2167128" y="4910328"/>
            <a:ext cx="1051560" cy="804672"/>
          </a:xfrm>
          <a:prstGeom prst="roundRect">
            <a:avLst>
              <a:gd name="adj" fmla="val 6818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9" name="Shape 27"/>
          <p:cNvSpPr/>
          <p:nvPr/>
        </p:nvSpPr>
        <p:spPr>
          <a:xfrm>
            <a:off x="3374136" y="4910328"/>
            <a:ext cx="1051560" cy="804672"/>
          </a:xfrm>
          <a:prstGeom prst="roundRect">
            <a:avLst>
              <a:gd name="adj" fmla="val 6818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0" name="Shape 28"/>
          <p:cNvSpPr/>
          <p:nvPr/>
        </p:nvSpPr>
        <p:spPr>
          <a:xfrm>
            <a:off x="4581144" y="4910328"/>
            <a:ext cx="1051560" cy="804672"/>
          </a:xfrm>
          <a:prstGeom prst="roundRect">
            <a:avLst>
              <a:gd name="adj" fmla="val 6818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1" name="Shape 29"/>
          <p:cNvSpPr/>
          <p:nvPr/>
        </p:nvSpPr>
        <p:spPr>
          <a:xfrm>
            <a:off x="5788152" y="4910328"/>
            <a:ext cx="1051560" cy="804672"/>
          </a:xfrm>
          <a:prstGeom prst="roundRect">
            <a:avLst>
              <a:gd name="adj" fmla="val 6818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2" name="Shape 30"/>
          <p:cNvSpPr/>
          <p:nvPr/>
        </p:nvSpPr>
        <p:spPr>
          <a:xfrm>
            <a:off x="883310" y="2660172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3" name="Text 31"/>
          <p:cNvSpPr/>
          <p:nvPr/>
        </p:nvSpPr>
        <p:spPr>
          <a:xfrm>
            <a:off x="883310" y="26601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36792" y="3106765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5" name="Text 33"/>
          <p:cNvSpPr/>
          <p:nvPr/>
        </p:nvSpPr>
        <p:spPr>
          <a:xfrm>
            <a:off x="6336792" y="310676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36792" y="3573475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7" name="Text 35"/>
          <p:cNvSpPr/>
          <p:nvPr/>
        </p:nvSpPr>
        <p:spPr>
          <a:xfrm>
            <a:off x="6336792" y="357347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337767" y="4233306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9" name="Text 37"/>
          <p:cNvSpPr/>
          <p:nvPr/>
        </p:nvSpPr>
        <p:spPr>
          <a:xfrm>
            <a:off x="1337767" y="42333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406640" y="193852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1" name="Text 39"/>
          <p:cNvSpPr/>
          <p:nvPr/>
        </p:nvSpPr>
        <p:spPr>
          <a:xfrm>
            <a:off x="7406640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863840" y="1865376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to the Movies / Series shelves.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406640" y="2596896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4" name="Text 42"/>
          <p:cNvSpPr/>
          <p:nvPr/>
        </p:nvSpPr>
        <p:spPr>
          <a:xfrm>
            <a:off x="7406640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863840" y="2523744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type-to-filter the catalogue by title.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406640" y="3255264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47" name="Text 45"/>
          <p:cNvSpPr/>
          <p:nvPr/>
        </p:nvSpPr>
        <p:spPr>
          <a:xfrm>
            <a:off x="740664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863840" y="3182112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A–Z filter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 to titles starting with a letter.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406640" y="3913632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50" name="Text 48"/>
          <p:cNvSpPr/>
          <p:nvPr/>
        </p:nvSpPr>
        <p:spPr>
          <a:xfrm>
            <a:off x="740664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863840" y="3840480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 (focused)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opens the detail view, then playback.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7406640" y="5029200"/>
            <a:ext cx="4236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i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uses the identical layout (Search series…, count, A–Z). Titles under the tiles come only from the user's playlist.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Player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 Page Description — Accounts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reviewer adds a playlist (Settings › Accounts)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492240" cy="4023360"/>
          </a:xfrm>
          <a:prstGeom prst="roundRect">
            <a:avLst>
              <a:gd name="adj" fmla="val 2273"/>
            </a:avLst>
          </a:prstGeom>
          <a:solidFill>
            <a:srgbClr val="0F1320"/>
          </a:solidFill>
          <a:ln w="19050">
            <a:solidFill>
              <a:srgbClr val="252E44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Shape 5"/>
          <p:cNvSpPr/>
          <p:nvPr/>
        </p:nvSpPr>
        <p:spPr>
          <a:xfrm>
            <a:off x="1600200" y="2194560"/>
            <a:ext cx="4572000" cy="3291840"/>
          </a:xfrm>
          <a:prstGeom prst="roundRect">
            <a:avLst>
              <a:gd name="adj" fmla="val 2778"/>
            </a:avLst>
          </a:prstGeom>
          <a:solidFill>
            <a:srgbClr val="1A2032"/>
          </a:solidFill>
          <a:ln w="12700">
            <a:solidFill>
              <a:srgbClr val="252E4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" name="Text 6"/>
          <p:cNvSpPr/>
          <p:nvPr/>
        </p:nvSpPr>
        <p:spPr>
          <a:xfrm>
            <a:off x="1874520" y="23957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74520" y="2816352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252E44"/>
          </a:solidFill>
          <a:ln w="12700">
            <a:solidFill>
              <a:srgbClr val="56C6E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1874520" y="28163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Add account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74520" y="3419856"/>
            <a:ext cx="4023360" cy="786384"/>
          </a:xfrm>
          <a:prstGeom prst="roundRect">
            <a:avLst>
              <a:gd name="adj" fmla="val 9302"/>
            </a:avLst>
          </a:prstGeom>
          <a:solidFill>
            <a:srgbClr val="252E44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2075688" y="351129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Playlist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88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 your M3U / Xtream URL ›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Active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25112" y="3685032"/>
            <a:ext cx="694944" cy="310896"/>
          </a:xfrm>
          <a:prstGeom prst="roundRect">
            <a:avLst>
              <a:gd name="adj" fmla="val 14706"/>
            </a:avLst>
          </a:prstGeom>
          <a:solidFill>
            <a:srgbClr val="313A52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4" name="Text 12"/>
          <p:cNvSpPr/>
          <p:nvPr/>
        </p:nvSpPr>
        <p:spPr>
          <a:xfrm>
            <a:off x="4325112" y="368503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74920" y="3685032"/>
            <a:ext cx="731520" cy="310896"/>
          </a:xfrm>
          <a:prstGeom prst="roundRect">
            <a:avLst>
              <a:gd name="adj" fmla="val 14706"/>
            </a:avLst>
          </a:prstGeom>
          <a:solidFill>
            <a:srgbClr val="1A2032"/>
          </a:solidFill>
          <a:ln w="12700">
            <a:solidFill>
              <a:srgbClr val="8A3A3A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5074920" y="36850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74520" y="4352544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252E44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8" name="Text 16"/>
          <p:cNvSpPr/>
          <p:nvPr/>
        </p:nvSpPr>
        <p:spPr>
          <a:xfrm>
            <a:off x="2075688" y="44074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Layout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88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Movies &amp; Series browse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44074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 Shelves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92224" y="2929738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1" name="Text 19"/>
          <p:cNvSpPr/>
          <p:nvPr/>
        </p:nvSpPr>
        <p:spPr>
          <a:xfrm>
            <a:off x="1792224" y="292973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564996" y="3613709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3" name="Text 21"/>
          <p:cNvSpPr/>
          <p:nvPr/>
        </p:nvSpPr>
        <p:spPr>
          <a:xfrm>
            <a:off x="1564996" y="361370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064508" y="3714293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4064508" y="371429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564996" y="4498848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7" name="Text 25"/>
          <p:cNvSpPr/>
          <p:nvPr/>
        </p:nvSpPr>
        <p:spPr>
          <a:xfrm>
            <a:off x="1564996" y="4498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06640" y="193852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9" name="Text 27"/>
          <p:cNvSpPr/>
          <p:nvPr/>
        </p:nvSpPr>
        <p:spPr>
          <a:xfrm>
            <a:off x="7406640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63840" y="1865376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account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an M3U or Xtream playlist URL.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406640" y="2596896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2" name="Text 30"/>
          <p:cNvSpPr/>
          <p:nvPr/>
        </p:nvSpPr>
        <p:spPr>
          <a:xfrm>
            <a:off x="7406640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863840" y="2523744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Playlist entry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active source; “✓ Active” is in use now.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406640" y="3255264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5" name="Text 33"/>
          <p:cNvSpPr/>
          <p:nvPr/>
        </p:nvSpPr>
        <p:spPr>
          <a:xfrm>
            <a:off x="740664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863840" y="3182112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/ Delete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or remove a saved playlist.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406640" y="3913632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8" name="Text 36"/>
          <p:cNvSpPr/>
          <p:nvPr/>
        </p:nvSpPr>
        <p:spPr>
          <a:xfrm>
            <a:off x="740664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863840" y="3840480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Layout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how Movies &amp; Series browse (shelves / grid).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406640" y="5029200"/>
            <a:ext cx="4236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i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 enter the sample playlist from the Test Accounts page here. Lumen Player stores and supplies no playlists of its own.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Player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 Page Description — Video Player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Full-screen playback and on-screen controls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492240" cy="4023360"/>
          </a:xfrm>
          <a:prstGeom prst="roundRect">
            <a:avLst>
              <a:gd name="adj" fmla="val 2273"/>
            </a:avLst>
          </a:prstGeom>
          <a:solidFill>
            <a:srgbClr val="0F1320"/>
          </a:solidFill>
          <a:ln w="19050">
            <a:solidFill>
              <a:srgbClr val="252E44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Shape 5"/>
          <p:cNvSpPr/>
          <p:nvPr/>
        </p:nvSpPr>
        <p:spPr>
          <a:xfrm>
            <a:off x="3383280" y="3154680"/>
            <a:ext cx="1005840" cy="1005840"/>
          </a:xfrm>
          <a:prstGeom prst="ellipse">
            <a:avLst/>
          </a:prstGeom>
          <a:solidFill>
            <a:srgbClr val="6C5CE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" name="Text 6"/>
          <p:cNvSpPr/>
          <p:nvPr/>
        </p:nvSpPr>
        <p:spPr>
          <a:xfrm>
            <a:off x="3429000" y="31546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60120" y="2103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playing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media title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60120" y="5166360"/>
            <a:ext cx="3474720" cy="109728"/>
          </a:xfrm>
          <a:prstGeom prst="roundRect">
            <a:avLst>
              <a:gd name="adj" fmla="val 50000"/>
            </a:avLst>
          </a:prstGeom>
          <a:solidFill>
            <a:srgbClr val="3A455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2" name="Shape 10"/>
          <p:cNvSpPr/>
          <p:nvPr/>
        </p:nvSpPr>
        <p:spPr>
          <a:xfrm>
            <a:off x="960120" y="5166360"/>
            <a:ext cx="2194560" cy="109728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3" name="Shape 11"/>
          <p:cNvSpPr/>
          <p:nvPr/>
        </p:nvSpPr>
        <p:spPr>
          <a:xfrm>
            <a:off x="3072384" y="5111496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4" name="Text 12"/>
          <p:cNvSpPr/>
          <p:nvPr/>
        </p:nvSpPr>
        <p:spPr>
          <a:xfrm>
            <a:off x="4572000" y="5093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12:34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80160" y="4480560"/>
            <a:ext cx="502920" cy="502920"/>
          </a:xfrm>
          <a:prstGeom prst="ellipse">
            <a:avLst/>
          </a:prstGeom>
          <a:solidFill>
            <a:srgbClr val="252E44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128016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⏮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03120" y="4480560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18" name="Text 16"/>
          <p:cNvSpPr/>
          <p:nvPr/>
        </p:nvSpPr>
        <p:spPr>
          <a:xfrm>
            <a:off x="210312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⏯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0" y="4480560"/>
            <a:ext cx="502920" cy="502920"/>
          </a:xfrm>
          <a:prstGeom prst="ellipse">
            <a:avLst/>
          </a:prstGeom>
          <a:solidFill>
            <a:srgbClr val="252E44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20" name="Text 18"/>
          <p:cNvSpPr/>
          <p:nvPr/>
        </p:nvSpPr>
        <p:spPr>
          <a:xfrm>
            <a:off x="292608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⏭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07727" y="4579315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2207727" y="457931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51816" y="5082235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4" name="Text 22"/>
          <p:cNvSpPr/>
          <p:nvPr/>
        </p:nvSpPr>
        <p:spPr>
          <a:xfrm>
            <a:off x="2551816" y="508223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90672" y="2326234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6" name="Text 24"/>
          <p:cNvSpPr/>
          <p:nvPr/>
        </p:nvSpPr>
        <p:spPr>
          <a:xfrm>
            <a:off x="3090672" y="23262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68189" y="3010205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F1320">
                <a:alpha val="1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8" name="Text 26"/>
          <p:cNvSpPr/>
          <p:nvPr/>
        </p:nvSpPr>
        <p:spPr>
          <a:xfrm>
            <a:off x="5168189" y="301020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06640" y="198424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0" name="Text 28"/>
          <p:cNvSpPr/>
          <p:nvPr/>
        </p:nvSpPr>
        <p:spPr>
          <a:xfrm>
            <a:off x="7406640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63840" y="1911096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/ Pause &amp; seek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controls; OK toggles play/pause.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406640" y="2642616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3" name="Text 31"/>
          <p:cNvSpPr/>
          <p:nvPr/>
        </p:nvSpPr>
        <p:spPr>
          <a:xfrm>
            <a:off x="7406640" y="2642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863840" y="2569464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bar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position; left/right seek.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406640" y="3300984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6" name="Text 34"/>
          <p:cNvSpPr/>
          <p:nvPr/>
        </p:nvSpPr>
        <p:spPr>
          <a:xfrm>
            <a:off x="7406640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863840" y="3227832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&amp; metadata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item; Back returns to the grid.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406640" y="3959352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9" name="Text 37"/>
          <p:cNvSpPr/>
          <p:nvPr/>
        </p:nvSpPr>
        <p:spPr>
          <a:xfrm>
            <a:off x="7406640" y="3959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863840" y="3886200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Playback surface  </a:t>
            </a: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auto-recovers from network hiccups.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406640" y="4892040"/>
            <a:ext cx="4236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i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auto-hide during playback and reappear on any remote key. The player recovers automatically from transient network drops.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Player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 Content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purchase and payment methods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881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Shape 5"/>
          <p:cNvSpPr/>
          <p:nvPr/>
        </p:nvSpPr>
        <p:spPr>
          <a:xfrm>
            <a:off x="5394960" y="2331720"/>
            <a:ext cx="1417320" cy="1417320"/>
          </a:xfrm>
          <a:prstGeom prst="ellipse">
            <a:avLst/>
          </a:prstGeom>
          <a:solidFill>
            <a:srgbClr val="EAF6EF"/>
          </a:solidFill>
          <a:ln w="25400">
            <a:solidFill>
              <a:srgbClr val="2FA36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" name="Text 6"/>
          <p:cNvSpPr/>
          <p:nvPr/>
        </p:nvSpPr>
        <p:spPr>
          <a:xfrm>
            <a:off x="5394960" y="228600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FA3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applicable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0" y="4389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Player contains no paid content and offers no in-app purchases, subscriptions, or payment flows. There are no credit-card, voucher-code, or SMS payment methods to test.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Player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In-App Ad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placements (banner / video)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881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blurRad="127000" dist="38100" dir="8100000" algn="bl" rotWithShape="0">
              <a:srgbClr val="9AA6BC">
                <a:alpha val="28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Shape 5"/>
          <p:cNvSpPr/>
          <p:nvPr/>
        </p:nvSpPr>
        <p:spPr>
          <a:xfrm>
            <a:off x="5394960" y="2331720"/>
            <a:ext cx="1417320" cy="1417320"/>
          </a:xfrm>
          <a:prstGeom prst="ellipse">
            <a:avLst/>
          </a:prstGeom>
          <a:solidFill>
            <a:srgbClr val="EAF6EF"/>
          </a:solidFill>
          <a:ln w="25400">
            <a:solidFill>
              <a:srgbClr val="2FA36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" name="Text 6"/>
          <p:cNvSpPr/>
          <p:nvPr/>
        </p:nvSpPr>
        <p:spPr>
          <a:xfrm>
            <a:off x="5394960" y="228600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FA3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applicable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0" y="4389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Player displays no advertising of any kind — no banner ads and no video ads. There are no ad placements, locations, or ad-network integrations to describe.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Player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84264"/>
            <a:ext cx="12191695" cy="45720"/>
          </a:xfrm>
          <a:prstGeom prst="rect">
            <a:avLst/>
          </a:prstGeom>
          <a:solidFill>
            <a:srgbClr val="56C6E6"/>
          </a:solidFill>
          <a:ln/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EG"/>
          </a:p>
        </p:txBody>
      </p:sp>
      <p:pic>
        <p:nvPicPr>
          <p:cNvPr id="4" name="Image 0" descr="Lumen Player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608" y="173736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5204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for reviewing Lumen Player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generic media player for the playlists you already own — it bundles, hosts and supplies no content.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47548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com.andrew1h1.lumenplayer   ·   v1.0.0   ·   Andrew Hany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1799</Words>
  <Application>Microsoft Macintosh PowerPoint</Application>
  <PresentationFormat>Widescreen</PresentationFormat>
  <Paragraphs>395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Lumen Player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Player — UX Scenario Document</dc:title>
  <dc:subject>PptxGenJS Presentation</dc:subject>
  <dc:creator>Andrew Hany</dc:creator>
  <cp:lastModifiedBy>Andrew Hany</cp:lastModifiedBy>
  <cp:revision>3</cp:revision>
  <dcterms:created xsi:type="dcterms:W3CDTF">2026-07-08T18:15:22Z</dcterms:created>
  <dcterms:modified xsi:type="dcterms:W3CDTF">2026-07-08T19:01:15Z</dcterms:modified>
</cp:coreProperties>
</file>